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546747"/>
            <a:ext cx="7924800" cy="1421606"/>
          </a:xfrm>
          <a:prstGeom prst="rect">
            <a:avLst/>
          </a:prstGeom>
          <a:noFill/>
          <a:ln w="15240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161706" y="625078"/>
            <a:ext cx="4820588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 Madenciliği Proje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047184" y="1303258"/>
            <a:ext cx="50496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Upwork İş Verilerine Dayalı Saatlik Ücret Tahmini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773630" y="1973818"/>
            <a:ext cx="1596621" cy="268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12"/>
              </a:lnSpc>
              <a:buNone/>
            </a:pPr>
            <a:r>
              <a:rPr lang="en-US" sz="13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FET445 Final Projesi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530352" y="2790587"/>
            <a:ext cx="8083296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👨‍💻 Osama Alkheder</a:t>
            </a:r>
            <a:pPr algn="ctr"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(22040101117)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530352" y="3067883"/>
            <a:ext cx="8083296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👨‍💻 Abdulkerim Albustani</a:t>
            </a:r>
            <a:pPr algn="ctr"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(22040101100)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530352" y="3345180"/>
            <a:ext cx="8083296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👨‍💻 Asil Elnasir</a:t>
            </a:r>
            <a:pPr algn="ctr"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(22040101169)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530352" y="3622477"/>
            <a:ext cx="8083296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👨‍💻 Ayham Assad</a:t>
            </a:r>
            <a:pPr algn="ctr"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(22040101099)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4160550" y="4196953"/>
            <a:ext cx="82278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Ocak 2026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86840"/>
            <a:ext cx="3848100" cy="170688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300" y="1386840"/>
            <a:ext cx="3848100" cy="170688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246120"/>
            <a:ext cx="3848100" cy="170688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86300" y="3246120"/>
            <a:ext cx="3848100" cy="170688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 Proje Neden Önemli?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38200" y="1615440"/>
            <a:ext cx="345871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156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1560" dirty="0"/>
          </a:p>
        </p:txBody>
      </p:sp>
      <p:sp>
        <p:nvSpPr>
          <p:cNvPr id="8" name="Text 6"/>
          <p:cNvSpPr/>
          <p:nvPr/>
        </p:nvSpPr>
        <p:spPr>
          <a:xfrm>
            <a:off x="838200" y="1958340"/>
            <a:ext cx="3458718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15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Freelancer Fiyatlandırması</a:t>
            </a:r>
            <a:endParaRPr lang="en-US" sz="1560" dirty="0"/>
          </a:p>
        </p:txBody>
      </p:sp>
      <p:sp>
        <p:nvSpPr>
          <p:cNvPr id="9" name="Text 7"/>
          <p:cNvSpPr/>
          <p:nvPr/>
        </p:nvSpPr>
        <p:spPr>
          <a:xfrm>
            <a:off x="838200" y="2316480"/>
            <a:ext cx="33909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Freelancerlar becerileri ve pazar koşullarına göre </a:t>
            </a:r>
            <a:pPr indent="0" marL="0">
              <a:lnSpc>
                <a:spcPts val="1710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rekabetçi saatlik ücret</a:t>
            </a:r>
            <a:pPr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belirleyebilir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4914900" y="1615440"/>
            <a:ext cx="345871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156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560" dirty="0"/>
          </a:p>
        </p:txBody>
      </p:sp>
      <p:sp>
        <p:nvSpPr>
          <p:cNvPr id="11" name="Text 9"/>
          <p:cNvSpPr/>
          <p:nvPr/>
        </p:nvSpPr>
        <p:spPr>
          <a:xfrm>
            <a:off x="4914900" y="1958340"/>
            <a:ext cx="3458718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15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İşveren Bütçeleme</a:t>
            </a:r>
            <a:endParaRPr lang="en-US" sz="1560" dirty="0"/>
          </a:p>
        </p:txBody>
      </p:sp>
      <p:sp>
        <p:nvSpPr>
          <p:cNvPr id="12" name="Text 10"/>
          <p:cNvSpPr/>
          <p:nvPr/>
        </p:nvSpPr>
        <p:spPr>
          <a:xfrm>
            <a:off x="4914900" y="2316480"/>
            <a:ext cx="33909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İşverenler proje maliyetlerini </a:t>
            </a:r>
            <a:pPr indent="0" marL="0">
              <a:lnSpc>
                <a:spcPts val="1710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doğru tahmin</a:t>
            </a:r>
            <a:pPr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edebilir, bütçe planlaması yapabilir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838200" y="3474720"/>
            <a:ext cx="345871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156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1560" dirty="0"/>
          </a:p>
        </p:txBody>
      </p:sp>
      <p:sp>
        <p:nvSpPr>
          <p:cNvPr id="14" name="Text 12"/>
          <p:cNvSpPr/>
          <p:nvPr/>
        </p:nvSpPr>
        <p:spPr>
          <a:xfrm>
            <a:off x="838200" y="3817620"/>
            <a:ext cx="3458718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15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Stratejisi</a:t>
            </a:r>
            <a:endParaRPr lang="en-US" sz="1560" dirty="0"/>
          </a:p>
        </p:txBody>
      </p:sp>
      <p:sp>
        <p:nvSpPr>
          <p:cNvPr id="15" name="Text 13"/>
          <p:cNvSpPr/>
          <p:nvPr/>
        </p:nvSpPr>
        <p:spPr>
          <a:xfrm>
            <a:off x="838200" y="4175760"/>
            <a:ext cx="33909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Upwork </a:t>
            </a:r>
            <a:pPr indent="0" marL="0">
              <a:lnSpc>
                <a:spcPts val="1710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dinamik fiyatlandırma</a:t>
            </a:r>
            <a:pPr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stratejileri geliştirebilir</a:t>
            </a:r>
            <a:endParaRPr lang="en-US" sz="1140" dirty="0"/>
          </a:p>
        </p:txBody>
      </p:sp>
      <p:sp>
        <p:nvSpPr>
          <p:cNvPr id="16" name="Text 14"/>
          <p:cNvSpPr/>
          <p:nvPr/>
        </p:nvSpPr>
        <p:spPr>
          <a:xfrm>
            <a:off x="4914900" y="3474720"/>
            <a:ext cx="345871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156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1560" dirty="0"/>
          </a:p>
        </p:txBody>
      </p:sp>
      <p:sp>
        <p:nvSpPr>
          <p:cNvPr id="17" name="Text 15"/>
          <p:cNvSpPr/>
          <p:nvPr/>
        </p:nvSpPr>
        <p:spPr>
          <a:xfrm>
            <a:off x="4914900" y="3817620"/>
            <a:ext cx="3458718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15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Pazar Analizi</a:t>
            </a:r>
            <a:endParaRPr lang="en-US" sz="1560" dirty="0"/>
          </a:p>
        </p:txBody>
      </p:sp>
      <p:sp>
        <p:nvSpPr>
          <p:cNvPr id="18" name="Text 16"/>
          <p:cNvSpPr/>
          <p:nvPr/>
        </p:nvSpPr>
        <p:spPr>
          <a:xfrm>
            <a:off x="4914900" y="4175760"/>
            <a:ext cx="33909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Ücret trendleri, boşluklar ve </a:t>
            </a:r>
            <a:pPr indent="0" marL="0">
              <a:lnSpc>
                <a:spcPts val="1710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fırsat alanlarını</a:t>
            </a:r>
            <a:pPr indent="0" marL="0">
              <a:lnSpc>
                <a:spcPts val="1710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belirleyebilir</a:t>
            </a:r>
            <a:endParaRPr lang="en-US" sz="11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19600" y="1386840"/>
            <a:ext cx="4114800" cy="3104197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Tanımı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386840"/>
            <a:ext cx="35753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15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Sorun</a:t>
            </a:r>
            <a:endParaRPr lang="en-US" sz="1560" dirty="0"/>
          </a:p>
        </p:txBody>
      </p:sp>
      <p:sp>
        <p:nvSpPr>
          <p:cNvPr id="5" name="Text 3"/>
          <p:cNvSpPr/>
          <p:nvPr/>
        </p:nvSpPr>
        <p:spPr>
          <a:xfrm>
            <a:off x="914400" y="1805940"/>
            <a:ext cx="32004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Freelance platformlarında saatlik oranlar belirsiz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Freelancer ve işveren her zaman yanlış fiyat belirleyebilir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Pazar koşulları hızla değişiyor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Ücret belirleme süreci öznel ve zaman alıcı</a:t>
            </a:r>
            <a:endParaRPr lang="en-US" sz="1140" dirty="0"/>
          </a:p>
        </p:txBody>
      </p:sp>
      <p:sp>
        <p:nvSpPr>
          <p:cNvPr id="6" name="Text 4"/>
          <p:cNvSpPr/>
          <p:nvPr/>
        </p:nvSpPr>
        <p:spPr>
          <a:xfrm>
            <a:off x="4724400" y="1691640"/>
            <a:ext cx="35753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156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Çözüm</a:t>
            </a:r>
            <a:endParaRPr lang="en-US" sz="1560" dirty="0"/>
          </a:p>
        </p:txBody>
      </p:sp>
      <p:sp>
        <p:nvSpPr>
          <p:cNvPr id="7" name="Text 5"/>
          <p:cNvSpPr/>
          <p:nvPr/>
        </p:nvSpPr>
        <p:spPr>
          <a:xfrm>
            <a:off x="4724400" y="2110740"/>
            <a:ext cx="3505200" cy="521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52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zeka modelleri</a:t>
            </a:r>
            <a:pPr indent="0" marL="0">
              <a:lnSpc>
                <a:spcPts val="205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kullanarak iş özellikleri temelinde: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5029200" y="2784158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Saatlik oranı </a:t>
            </a:r>
            <a:pPr indent="0" marL="0">
              <a:lnSpc>
                <a:spcPts val="2052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otomatik tahmin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Objektif fiyatlandırma önerisi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Gerçek zamanlı pazar analitiği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 temelli karar alma</a:t>
            </a:r>
            <a:endParaRPr lang="en-US" sz="11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34440"/>
            <a:ext cx="3810000" cy="241554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24400" y="1234440"/>
            <a:ext cx="3810000" cy="241554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" y="1859281"/>
          <a:ext cx="3352800" cy="1409700"/>
        </p:xfrm>
        <a:graphic>
          <a:graphicData uri="http://schemas.openxmlformats.org/drawingml/2006/table">
            <a:tbl>
              <a:tblPr/>
              <a:tblGrid>
                <a:gridCol w="1676400"/>
                <a:gridCol w="1676400"/>
              </a:tblGrid>
              <a:tr h="3524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Toplam Kayıt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140,936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Eğitim Seti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81,937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Seti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20,485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Öznitelik Sayısı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FBBF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1,007-1,507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09600" y="609600"/>
            <a:ext cx="8083296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 Seti Özellikleri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838200" y="1463040"/>
            <a:ext cx="34198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144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Veri Boyutu</a:t>
            </a:r>
            <a:endParaRPr lang="en-US" sz="1440" dirty="0"/>
          </a:p>
        </p:txBody>
      </p:sp>
      <p:sp>
        <p:nvSpPr>
          <p:cNvPr id="7" name="Text 4"/>
          <p:cNvSpPr/>
          <p:nvPr/>
        </p:nvSpPr>
        <p:spPr>
          <a:xfrm>
            <a:off x="4953000" y="1463040"/>
            <a:ext cx="3419856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144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Öznitelik Türleri</a:t>
            </a:r>
            <a:endParaRPr lang="en-US" sz="1440" dirty="0"/>
          </a:p>
        </p:txBody>
      </p:sp>
      <p:sp>
        <p:nvSpPr>
          <p:cNvPr id="8" name="Text 5"/>
          <p:cNvSpPr/>
          <p:nvPr/>
        </p:nvSpPr>
        <p:spPr>
          <a:xfrm>
            <a:off x="5257800" y="1859281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52"/>
              </a:lnSpc>
              <a:buSzPct val="100000"/>
              <a:buChar char="•"/>
            </a:pPr>
            <a:pPr indent="0" marL="0">
              <a:lnSpc>
                <a:spcPts val="205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ts val="2052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Metin:</a:t>
            </a:r>
            <a:pPr indent="0" marL="0">
              <a:lnSpc>
                <a:spcPts val="205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TF-IDF ile işlenen başlık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pPr indent="0" marL="0">
              <a:lnSpc>
                <a:spcPts val="205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ts val="2052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Sayısal:</a:t>
            </a:r>
            <a:pPr indent="0" marL="0">
              <a:lnSpc>
                <a:spcPts val="205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Uzunluk, kelime sayısı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pPr indent="0" marL="0">
              <a:lnSpc>
                <a:spcPts val="205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ts val="2052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Kategorik:</a:t>
            </a:r>
            <a:pPr indent="0" marL="0">
              <a:lnSpc>
                <a:spcPts val="205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Ülke, kategori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pPr indent="0" marL="0">
              <a:lnSpc>
                <a:spcPts val="205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ts val="2052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İstatistiksel:</a:t>
            </a:r>
            <a:pPr indent="0" marL="0">
              <a:lnSpc>
                <a:spcPts val="205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Bütçe, ücret</a:t>
            </a:r>
            <a:endParaRPr lang="en-US" sz="11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86841"/>
            <a:ext cx="1809750" cy="314706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647950" y="1386841"/>
            <a:ext cx="1809750" cy="314706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86300" y="1386841"/>
            <a:ext cx="1809750" cy="314706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24650" y="1386841"/>
            <a:ext cx="1809750" cy="314706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Metodoloji: Adım Adım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24675" y="1615441"/>
            <a:ext cx="1379601" cy="40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2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1️⃣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4675" y="2095500"/>
            <a:ext cx="1379601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Temizleme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38200" y="2346961"/>
            <a:ext cx="1352550" cy="438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8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Eksik veriler kaldırıldı, boş alanlar temizlendi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2863025" y="1615441"/>
            <a:ext cx="1379601" cy="40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2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2️⃣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863025" y="2095500"/>
            <a:ext cx="1379601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Kodlama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76550" y="2346961"/>
            <a:ext cx="1352550" cy="438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8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Kategorik değişkenler sayıya dönüştürüldü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4901375" y="1615441"/>
            <a:ext cx="1379601" cy="40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2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3️⃣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901375" y="2095500"/>
            <a:ext cx="1379601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Vektörleştirme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14900" y="2346961"/>
            <a:ext cx="1352550" cy="438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8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Metin TF-IDF ile özniteliğe çevrildi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6939725" y="1615441"/>
            <a:ext cx="1379601" cy="40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2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4️⃣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939725" y="2095500"/>
            <a:ext cx="1379601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Eğitim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53250" y="2346961"/>
            <a:ext cx="1352550" cy="438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8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model eğitildi ve değerlendirildi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5800" y="1386841"/>
            <a:ext cx="4038600" cy="241554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24400" y="2011680"/>
          <a:ext cx="3581400" cy="1409700"/>
        </p:xfrm>
        <a:graphic>
          <a:graphicData uri="http://schemas.openxmlformats.org/drawingml/2006/table">
            <a:tbl>
              <a:tblPr/>
              <a:tblGrid>
                <a:gridCol w="1790700"/>
                <a:gridCol w="1790700"/>
              </a:tblGrid>
              <a:tr h="3524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Toplam Kayıt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140,936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Öznitelik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1,007-1,507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Eğitim Seti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81,937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Seti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20,485</a:t>
                      </a:r>
                      <a:endParaRPr lang="en-US" sz="10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09600" y="609600"/>
            <a:ext cx="8083296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Tüm Modellerin Performansı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09600" y="1386841"/>
            <a:ext cx="3653028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6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680" dirty="0"/>
          </a:p>
        </p:txBody>
      </p:sp>
      <p:sp>
        <p:nvSpPr>
          <p:cNvPr id="6" name="Text 3"/>
          <p:cNvSpPr/>
          <p:nvPr/>
        </p:nvSpPr>
        <p:spPr>
          <a:xfrm>
            <a:off x="914400" y="1783080"/>
            <a:ext cx="32766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Freelance platformlarında saatlik oranları tahmin etmek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İş ilanı özelliklerini kullanarak ücret belirleme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Dinamik fiyatlandırma stratejileri geliştirme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724400" y="1615441"/>
            <a:ext cx="3653028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6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 Seti</a:t>
            </a:r>
            <a:endParaRPr lang="en-US" sz="1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57700" y="1386841"/>
            <a:ext cx="4076700" cy="221742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Metodoloji &amp; Modeller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386841"/>
            <a:ext cx="3691890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15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 Ön İşleme</a:t>
            </a:r>
            <a:endParaRPr lang="en-US" sz="1560" dirty="0"/>
          </a:p>
        </p:txBody>
      </p:sp>
      <p:sp>
        <p:nvSpPr>
          <p:cNvPr id="5" name="Text 3"/>
          <p:cNvSpPr/>
          <p:nvPr/>
        </p:nvSpPr>
        <p:spPr>
          <a:xfrm>
            <a:off x="914400" y="1744980"/>
            <a:ext cx="33147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26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Metin Temizleme (TF-IDF)</a:t>
            </a:r>
            <a:endParaRPr lang="en-US" sz="1140" dirty="0"/>
          </a:p>
          <a:p>
            <a:pPr marL="342900" indent="-342900">
              <a:lnSpc>
                <a:spcPts val="1026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Kategorik Kodlama</a:t>
            </a:r>
            <a:endParaRPr lang="en-US" sz="1140" dirty="0"/>
          </a:p>
          <a:p>
            <a:pPr marL="342900" indent="-342900">
              <a:lnSpc>
                <a:spcPts val="1026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Sayısal Ölçeklendirme</a:t>
            </a:r>
            <a:endParaRPr lang="en-US" sz="1140" dirty="0"/>
          </a:p>
          <a:p>
            <a:pPr marL="342900" indent="-342900">
              <a:lnSpc>
                <a:spcPts val="1026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Vektörleştirme</a:t>
            </a:r>
            <a:endParaRPr lang="en-US" sz="1140" dirty="0"/>
          </a:p>
        </p:txBody>
      </p:sp>
      <p:sp>
        <p:nvSpPr>
          <p:cNvPr id="6" name="Text 4"/>
          <p:cNvSpPr/>
          <p:nvPr/>
        </p:nvSpPr>
        <p:spPr>
          <a:xfrm>
            <a:off x="4686300" y="1615441"/>
            <a:ext cx="3691890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15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Kategorileri</a:t>
            </a:r>
            <a:endParaRPr lang="en-US" sz="1560" dirty="0"/>
          </a:p>
        </p:txBody>
      </p:sp>
      <p:sp>
        <p:nvSpPr>
          <p:cNvPr id="7" name="Text 5"/>
          <p:cNvSpPr/>
          <p:nvPr/>
        </p:nvSpPr>
        <p:spPr>
          <a:xfrm>
            <a:off x="4991100" y="1973580"/>
            <a:ext cx="33147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26"/>
              </a:lnSpc>
              <a:buSzPct val="100000"/>
              <a:buChar char="•"/>
            </a:pPr>
            <a:pPr indent="0" marL="0">
              <a:lnSpc>
                <a:spcPts val="102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Doğrusal Modeller</a:t>
            </a:r>
            <a:endParaRPr lang="en-US" sz="1140" dirty="0"/>
          </a:p>
          <a:p>
            <a:pPr marL="342900" indent="-342900">
              <a:lnSpc>
                <a:spcPts val="1026"/>
              </a:lnSpc>
              <a:buSzPct val="100000"/>
              <a:buChar char="•"/>
            </a:pPr>
            <a:pPr indent="0" marL="0">
              <a:lnSpc>
                <a:spcPts val="102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Ağaç Tabanlı (RF, XGB)</a:t>
            </a:r>
            <a:endParaRPr lang="en-US" sz="1140" dirty="0"/>
          </a:p>
          <a:p>
            <a:pPr marL="342900" indent="-342900">
              <a:lnSpc>
                <a:spcPts val="1026"/>
              </a:lnSpc>
              <a:buSzPct val="100000"/>
              <a:buChar char="•"/>
            </a:pPr>
            <a:pPr indent="0" marL="0">
              <a:lnSpc>
                <a:spcPts val="102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Komşu Tabanlı (KNN)</a:t>
            </a:r>
            <a:endParaRPr lang="en-US" sz="1140" dirty="0"/>
          </a:p>
          <a:p>
            <a:pPr marL="342900" indent="-342900">
              <a:lnSpc>
                <a:spcPts val="1026"/>
              </a:lnSpc>
              <a:buSzPct val="100000"/>
              <a:buChar char="•"/>
            </a:pPr>
            <a:pPr indent="0" marL="0">
              <a:lnSpc>
                <a:spcPts val="102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Derin Öğrenme (MLP, LSTM)</a:t>
            </a:r>
            <a:endParaRPr lang="en-US" sz="11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310641"/>
          <a:ext cx="7924800" cy="2750820"/>
        </p:xfrm>
        <a:graphic>
          <a:graphicData uri="http://schemas.openxmlformats.org/drawingml/2006/table">
            <a:tbl>
              <a:tblPr/>
              <a:tblGrid>
                <a:gridCol w="1320800"/>
                <a:gridCol w="1320800"/>
                <a:gridCol w="1320800"/>
                <a:gridCol w="1320800"/>
                <a:gridCol w="1320800"/>
                <a:gridCol w="1320800"/>
              </a:tblGrid>
              <a:tr h="3438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R²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MSE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RMSE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MAE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MAPE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3438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Linear Regression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4AD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1.0000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0.0000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0.0001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0.0000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0.0003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38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SVR Linear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4AD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1.0000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0.0092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0.0958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0.0956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0.6410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38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RandomForest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4AD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0.9999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FBBF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0.1160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0.3405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FBBF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0.0057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FBBF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0.0015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38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KNeighborsRegressor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0.9977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2.1004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1.4493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0.3081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1.7486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38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Ridge Regression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4AD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1.0000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0.0009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0.0292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0.0250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0.1652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38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MLP (128-64-1)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0.9798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18.1819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4.2640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3.0275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19.9848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385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XGBRegressor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0.9278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65.0107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8.0629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0.7226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2.7612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609600" y="609600"/>
            <a:ext cx="8083296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Tüm Modellerin Performans Karşılaştırması</a:t>
            </a:r>
            <a:endParaRPr lang="en-US" sz="2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76400"/>
            <a:ext cx="4114800" cy="256794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İyi Model: RandomForestRegressor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79348" y="1981200"/>
            <a:ext cx="3575304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3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0.9999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79348" y="2499359"/>
            <a:ext cx="3575304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Skoru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9348" y="2903223"/>
            <a:ext cx="3575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4"/>
              </a:lnSpc>
              <a:buNone/>
            </a:pPr>
            <a:r>
              <a:rPr lang="en-US" sz="216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0.0057</a:t>
            </a:r>
            <a:endParaRPr lang="en-US" sz="2160" dirty="0"/>
          </a:p>
        </p:txBody>
      </p:sp>
      <p:sp>
        <p:nvSpPr>
          <p:cNvPr id="7" name="Text 5"/>
          <p:cNvSpPr/>
          <p:nvPr/>
        </p:nvSpPr>
        <p:spPr>
          <a:xfrm>
            <a:off x="879348" y="3299459"/>
            <a:ext cx="3575304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 (En Düşük)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9348" y="3703323"/>
            <a:ext cx="3575304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15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Abdulkerim Albustani</a:t>
            </a:r>
            <a:endParaRPr lang="en-US" sz="1560" dirty="0"/>
          </a:p>
        </p:txBody>
      </p:sp>
      <p:sp>
        <p:nvSpPr>
          <p:cNvPr id="9" name="Text 7"/>
          <p:cNvSpPr/>
          <p:nvPr/>
        </p:nvSpPr>
        <p:spPr>
          <a:xfrm>
            <a:off x="5029200" y="1855473"/>
            <a:ext cx="357530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Neden RandomForest?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334000" y="2312673"/>
            <a:ext cx="3200400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35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Mükemmel R² ve en düşük MAE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35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Düşük Overfitting riski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35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GridSearchCV ile optimize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35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Ensemble yöntem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35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Gerçekçi performans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86841"/>
            <a:ext cx="3848100" cy="235458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300" y="1386841"/>
            <a:ext cx="3848100" cy="235458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970023"/>
            <a:ext cx="3848100" cy="201168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86300" y="3970023"/>
            <a:ext cx="3848100" cy="201168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" y="1981200"/>
          <a:ext cx="3390900" cy="1379220"/>
        </p:xfrm>
        <a:graphic>
          <a:graphicData uri="http://schemas.openxmlformats.org/drawingml/2006/table">
            <a:tbl>
              <a:tblPr/>
              <a:tblGrid>
                <a:gridCol w="1695450"/>
                <a:gridCol w="1695450"/>
              </a:tblGrid>
              <a:tr h="3448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R²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3448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Linear Reg.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4AD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1.0000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48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Ridge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4AD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1.0000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3448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SVR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4AD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1.0000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14900" y="1981200"/>
          <a:ext cx="3390900" cy="1036320"/>
        </p:xfrm>
        <a:graphic>
          <a:graphicData uri="http://schemas.openxmlformats.org/drawingml/2006/table">
            <a:tbl>
              <a:tblPr/>
              <a:tblGrid>
                <a:gridCol w="1695450"/>
                <a:gridCol w="1695450"/>
              </a:tblGrid>
              <a:tr h="345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R²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RandomForest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FBBF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0.9999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XGBRegressor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0.9278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" y="4564382"/>
          <a:ext cx="3390900" cy="1036320"/>
        </p:xfrm>
        <a:graphic>
          <a:graphicData uri="http://schemas.openxmlformats.org/drawingml/2006/table">
            <a:tbl>
              <a:tblPr/>
              <a:tblGrid>
                <a:gridCol w="1695450"/>
                <a:gridCol w="1695450"/>
              </a:tblGrid>
              <a:tr h="345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R²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MLP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0.9798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5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LSTM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0.8954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14900" y="4564382"/>
          <a:ext cx="3390900" cy="693420"/>
        </p:xfrm>
        <a:graphic>
          <a:graphicData uri="http://schemas.openxmlformats.org/drawingml/2006/table">
            <a:tbl>
              <a:tblPr/>
              <a:tblGrid>
                <a:gridCol w="1695450"/>
                <a:gridCol w="1695450"/>
              </a:tblGrid>
              <a:tr h="3467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R²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3467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KNeighbors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0.9977</a:t>
                      </a:r>
                      <a:endParaRPr lang="en-US" sz="10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4"/>
          <p:cNvSpPr/>
          <p:nvPr/>
        </p:nvSpPr>
        <p:spPr>
          <a:xfrm>
            <a:off x="609600" y="609600"/>
            <a:ext cx="8083296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Kategorilerine Göre Analiz</a:t>
            </a:r>
            <a:endParaRPr lang="en-US" sz="2700" dirty="0"/>
          </a:p>
        </p:txBody>
      </p:sp>
      <p:sp>
        <p:nvSpPr>
          <p:cNvPr id="11" name="Text 5"/>
          <p:cNvSpPr/>
          <p:nvPr/>
        </p:nvSpPr>
        <p:spPr>
          <a:xfrm>
            <a:off x="838200" y="1615441"/>
            <a:ext cx="345871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14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Doğrusal Modeller</a:t>
            </a:r>
            <a:endParaRPr lang="en-US" sz="1440" dirty="0"/>
          </a:p>
        </p:txBody>
      </p:sp>
      <p:sp>
        <p:nvSpPr>
          <p:cNvPr id="12" name="Text 6"/>
          <p:cNvSpPr/>
          <p:nvPr/>
        </p:nvSpPr>
        <p:spPr>
          <a:xfrm>
            <a:off x="4914900" y="1615441"/>
            <a:ext cx="345871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14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Ağaç Tabanlı Modeller</a:t>
            </a:r>
            <a:endParaRPr lang="en-US" sz="1440" dirty="0"/>
          </a:p>
        </p:txBody>
      </p:sp>
      <p:sp>
        <p:nvSpPr>
          <p:cNvPr id="13" name="Text 7"/>
          <p:cNvSpPr/>
          <p:nvPr/>
        </p:nvSpPr>
        <p:spPr>
          <a:xfrm>
            <a:off x="838200" y="4198623"/>
            <a:ext cx="345871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14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Derin Öğrenme</a:t>
            </a:r>
            <a:endParaRPr lang="en-US" sz="1440" dirty="0"/>
          </a:p>
        </p:txBody>
      </p:sp>
      <p:sp>
        <p:nvSpPr>
          <p:cNvPr id="14" name="Text 8"/>
          <p:cNvSpPr/>
          <p:nvPr/>
        </p:nvSpPr>
        <p:spPr>
          <a:xfrm>
            <a:off x="4914900" y="4198623"/>
            <a:ext cx="345871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14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Komşu Tabanlı</a:t>
            </a:r>
            <a:endParaRPr lang="en-US" sz="14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86841"/>
            <a:ext cx="2489240" cy="2921437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27440" y="1386841"/>
            <a:ext cx="2489240" cy="2319457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45280" y="1386841"/>
            <a:ext cx="2489240" cy="2319457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Öğrenci Performans Özeti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615441"/>
            <a:ext cx="2072681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21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Abdulkerim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38200" y="2125982"/>
            <a:ext cx="2072681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Model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1143000" y="2479477"/>
            <a:ext cx="172724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972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GridSearchCV kullanımı</a:t>
            </a:r>
            <a:endParaRPr lang="en-US" sz="1080" dirty="0"/>
          </a:p>
          <a:p>
            <a:pPr marL="342900" indent="-342900">
              <a:lnSpc>
                <a:spcPts val="972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RandomForest (0.9999)</a:t>
            </a:r>
            <a:endParaRPr lang="en-US" sz="1080" dirty="0"/>
          </a:p>
          <a:p>
            <a:pPr marL="342900" indent="-342900">
              <a:lnSpc>
                <a:spcPts val="972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Düşük MAE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3556040" y="1615441"/>
            <a:ext cx="207268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Osama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556040" y="2072641"/>
            <a:ext cx="2072681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Model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3860840" y="2426136"/>
            <a:ext cx="172724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972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Uygulaması</a:t>
            </a:r>
            <a:endParaRPr lang="en-US" sz="1080" dirty="0"/>
          </a:p>
          <a:p>
            <a:pPr marL="342900" indent="-342900">
              <a:lnSpc>
                <a:spcPts val="972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(0.9748)</a:t>
            </a:r>
            <a:endParaRPr lang="en-US" sz="1080" dirty="0"/>
          </a:p>
          <a:p>
            <a:pPr marL="342900" indent="-342900">
              <a:lnSpc>
                <a:spcPts val="972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Denemesi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6273880" y="1615441"/>
            <a:ext cx="207268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Asil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273880" y="2072641"/>
            <a:ext cx="2072681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Model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6578680" y="2426136"/>
            <a:ext cx="172724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972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SVR (1.0000)</a:t>
            </a:r>
            <a:endParaRPr lang="en-US" sz="1080" dirty="0"/>
          </a:p>
          <a:p>
            <a:pPr marL="342900" indent="-342900">
              <a:lnSpc>
                <a:spcPts val="972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KNeighbors (0.9977)</a:t>
            </a:r>
            <a:endParaRPr lang="en-US" sz="1080" dirty="0"/>
          </a:p>
          <a:p>
            <a:pPr marL="342900" indent="-342900">
              <a:lnSpc>
                <a:spcPts val="972"/>
              </a:lnSpc>
              <a:buSzPct val="100000"/>
              <a:buChar char="•"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Hafif Ayarlar</a:t>
            </a:r>
            <a:endParaRPr lang="en-US" sz="10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5800" y="1386841"/>
            <a:ext cx="4038600" cy="199024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Temel Bulgular &amp; Sonuç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386841"/>
            <a:ext cx="3653028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156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Temel Bulgular</a:t>
            </a:r>
            <a:endParaRPr lang="en-US" sz="1560" dirty="0"/>
          </a:p>
        </p:txBody>
      </p:sp>
      <p:sp>
        <p:nvSpPr>
          <p:cNvPr id="5" name="Text 3"/>
          <p:cNvSpPr/>
          <p:nvPr/>
        </p:nvSpPr>
        <p:spPr>
          <a:xfrm>
            <a:off x="914400" y="1775459"/>
            <a:ext cx="3276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52"/>
              </a:lnSpc>
              <a:buSzPct val="100000"/>
              <a:buChar char="•"/>
            </a:pPr>
            <a:pPr indent="0" marL="0">
              <a:lnSpc>
                <a:spcPts val="205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Doğrusal ilişkiler çok güçlü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pPr indent="0" marL="0">
              <a:lnSpc>
                <a:spcPts val="205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LSTM zamansal olmayan veride etkisiz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pPr indent="0" marL="0">
              <a:lnSpc>
                <a:spcPts val="205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Hyperparameter ayarı kritik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pPr indent="0" marL="0">
              <a:lnSpc>
                <a:spcPts val="205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Ensemble yöntemler başarılı</a:t>
            </a:r>
            <a:endParaRPr lang="en-US" sz="1140" dirty="0"/>
          </a:p>
        </p:txBody>
      </p:sp>
      <p:sp>
        <p:nvSpPr>
          <p:cNvPr id="6" name="Text 4"/>
          <p:cNvSpPr/>
          <p:nvPr/>
        </p:nvSpPr>
        <p:spPr>
          <a:xfrm>
            <a:off x="4724400" y="1615441"/>
            <a:ext cx="3653028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156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Sonuç</a:t>
            </a:r>
            <a:endParaRPr lang="en-US" sz="1560" dirty="0"/>
          </a:p>
        </p:txBody>
      </p:sp>
      <p:sp>
        <p:nvSpPr>
          <p:cNvPr id="7" name="Text 5"/>
          <p:cNvSpPr/>
          <p:nvPr/>
        </p:nvSpPr>
        <p:spPr>
          <a:xfrm>
            <a:off x="4724400" y="2004059"/>
            <a:ext cx="3581400" cy="438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8"/>
              </a:lnSpc>
              <a:buNone/>
            </a:pPr>
            <a:r>
              <a:rPr lang="en-US" sz="10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İyi Model:</a:t>
            </a:r>
            <a:pPr indent="0" marL="0">
              <a:lnSpc>
                <a:spcPts val="1728"/>
              </a:lnSpc>
              <a:buNone/>
            </a:pPr>
            <a:endParaRPr lang="en-US" sz="1080" dirty="0"/>
          </a:p>
          <a:p>
            <a:pPr indent="0" marL="0">
              <a:lnSpc>
                <a:spcPts val="1728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RandomForestRegressor (R²=0.9999)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4724400" y="2595325"/>
            <a:ext cx="3581400" cy="438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8"/>
              </a:lnSpc>
              <a:buNone/>
            </a:pPr>
            <a:r>
              <a:rPr lang="en-US" sz="108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Önerim:</a:t>
            </a:r>
            <a:pPr indent="0" marL="0">
              <a:lnSpc>
                <a:spcPts val="1728"/>
              </a:lnSpc>
              <a:buNone/>
            </a:pPr>
            <a:endParaRPr lang="en-US" sz="1080" dirty="0"/>
          </a:p>
          <a:p>
            <a:pPr indent="0" marL="0">
              <a:lnSpc>
                <a:spcPts val="1728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Prodüksiyon ortamında RandomForest kullanılması</a:t>
            </a:r>
            <a:endParaRPr lang="en-US" sz="10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47906" y="2883336"/>
            <a:ext cx="2648188" cy="973812"/>
          </a:xfrm>
          <a:prstGeom prst="rect">
            <a:avLst/>
          </a:prstGeom>
          <a:noFill/>
          <a:ln w="15240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49132" y="1286233"/>
            <a:ext cx="2245616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Sorularınız?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965786" y="2032992"/>
            <a:ext cx="3212309" cy="316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96"/>
              </a:lnSpc>
              <a:buNone/>
            </a:pPr>
            <a:r>
              <a:rPr lang="en-US" sz="15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 Madenciliği FET445 Final Proje</a:t>
            </a:r>
            <a:endParaRPr lang="en-US" sz="1560" dirty="0"/>
          </a:p>
        </p:txBody>
      </p:sp>
      <p:sp>
        <p:nvSpPr>
          <p:cNvPr id="5" name="Text 3"/>
          <p:cNvSpPr/>
          <p:nvPr/>
        </p:nvSpPr>
        <p:spPr>
          <a:xfrm>
            <a:off x="3221424" y="3127177"/>
            <a:ext cx="270115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Upwork Saatlik Ücret Tahmini Modelleri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21424" y="3523417"/>
            <a:ext cx="2701152" cy="219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28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Model • 4 Öğrenci • 140,936 Veri Örneği</a:t>
            </a:r>
            <a:endParaRPr lang="en-US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2026-01-10T16:32:44Z</dcterms:created>
  <dcterms:modified xsi:type="dcterms:W3CDTF">2026-01-10T16:32:44Z</dcterms:modified>
</cp:coreProperties>
</file>